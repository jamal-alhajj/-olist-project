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7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6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5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8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1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9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4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0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6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81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65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6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4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4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F88D535-BE73-4B3C-A238-1D80844F48D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E9DAD4-57B8-42A9-A6E1-E9624C4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9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11DE-628F-E859-4173-6873D18F93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/>
              <a:t>Olist</a:t>
            </a:r>
            <a:r>
              <a:rPr lang="en-US" sz="2400" b="1" dirty="0"/>
              <a:t> Business Insights &amp; Executive Presentation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dirty="0"/>
              <a:t>Power BI Dashboard Development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263CF-9CEE-594C-0398-9BA914326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20304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Prepared by:</a:t>
            </a:r>
          </a:p>
          <a:p>
            <a:br>
              <a:rPr lang="en-US" dirty="0"/>
            </a:br>
            <a:r>
              <a:rPr lang="en-US" dirty="0"/>
              <a:t>Jamal Al Hajj</a:t>
            </a:r>
          </a:p>
          <a:p>
            <a:endParaRPr lang="en-US" dirty="0"/>
          </a:p>
          <a:p>
            <a:r>
              <a:rPr lang="en-US" dirty="0"/>
              <a:t>IDS Academy</a:t>
            </a:r>
          </a:p>
          <a:p>
            <a:br>
              <a:rPr lang="en-US" dirty="0"/>
            </a:br>
            <a:r>
              <a:rPr lang="en-US" dirty="0"/>
              <a:t>Lebanese University – Data Science Department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6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4289-B040-E453-4C84-E584FF2D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0F3A-6101-F897-64BA-D375C3F1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900" dirty="0"/>
              <a:t>E-commerce businesses generate large volumes of transactional data. </a:t>
            </a:r>
          </a:p>
          <a:p>
            <a:r>
              <a:rPr lang="en-US" sz="2900" dirty="0"/>
              <a:t>The challenge is transforming this raw data into actionable insights that support business growth and strategic decisions.</a:t>
            </a:r>
          </a:p>
          <a:p>
            <a:endParaRPr lang="en-US" sz="2900" dirty="0"/>
          </a:p>
          <a:p>
            <a:r>
              <a:rPr lang="en-US" sz="2900" dirty="0"/>
              <a:t>This project analyzes </a:t>
            </a:r>
            <a:r>
              <a:rPr lang="en-US" sz="2900" dirty="0" err="1"/>
              <a:t>Olist</a:t>
            </a:r>
            <a:r>
              <a:rPr lang="en-US" sz="2900" dirty="0"/>
              <a:t> sales performance to understand:</a:t>
            </a:r>
          </a:p>
          <a:p>
            <a:r>
              <a:rPr lang="en-US" sz="2900" dirty="0"/>
              <a:t>Revenue trends</a:t>
            </a:r>
          </a:p>
          <a:p>
            <a:r>
              <a:rPr lang="en-US" sz="2900" dirty="0"/>
              <a:t> Product performance</a:t>
            </a:r>
          </a:p>
          <a:p>
            <a:r>
              <a:rPr lang="en-US" sz="2900" dirty="0"/>
              <a:t> Regional sales performance</a:t>
            </a:r>
          </a:p>
          <a:p>
            <a:r>
              <a:rPr lang="en-US" sz="2900" dirty="0"/>
              <a:t> Delivery efficiency</a:t>
            </a:r>
          </a:p>
        </p:txBody>
      </p:sp>
    </p:spTree>
    <p:extLst>
      <p:ext uri="{BB962C8B-B14F-4D97-AF65-F5344CB8AC3E}">
        <p14:creationId xmlns:p14="http://schemas.microsoft.com/office/powerpoint/2010/main" val="426163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2912-88DA-6A1B-54E1-65A8D428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-501316"/>
            <a:ext cx="10018713" cy="1752599"/>
          </a:xfrm>
        </p:spPr>
        <p:txBody>
          <a:bodyPr/>
          <a:lstStyle/>
          <a:p>
            <a:r>
              <a:rPr lang="en-US" b="1" dirty="0"/>
              <a:t>Data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E8D8-CD06-0216-D34F-DA595983D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2412330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The project followed these steps:</a:t>
            </a:r>
          </a:p>
          <a:p>
            <a:pPr marL="0" indent="0">
              <a:buNone/>
            </a:pPr>
            <a:r>
              <a:rPr lang="en-US" sz="1800" dirty="0"/>
              <a:t> 1. SQL Database Connection</a:t>
            </a:r>
          </a:p>
          <a:p>
            <a:pPr marL="0" indent="0">
              <a:buNone/>
            </a:pPr>
            <a:r>
              <a:rPr lang="en-US" sz="1800" dirty="0"/>
              <a:t>      • Connected Power BI to PostgreSQL database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2. Data Modeling</a:t>
            </a:r>
          </a:p>
          <a:p>
            <a:pPr marL="0" indent="0">
              <a:buNone/>
            </a:pPr>
            <a:r>
              <a:rPr lang="en-US" sz="1800" dirty="0"/>
              <a:t>      • Built a semantic star schema model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3. KPI Creation</a:t>
            </a:r>
          </a:p>
          <a:p>
            <a:pPr marL="0" indent="0">
              <a:buNone/>
            </a:pPr>
            <a:r>
              <a:rPr lang="en-US" sz="1800" dirty="0"/>
              <a:t>     •  Total Revenue</a:t>
            </a:r>
          </a:p>
          <a:p>
            <a:pPr marL="0" indent="0">
              <a:buNone/>
            </a:pPr>
            <a:r>
              <a:rPr lang="en-US" sz="1800" dirty="0"/>
              <a:t>     •  Orders</a:t>
            </a:r>
          </a:p>
          <a:p>
            <a:pPr marL="0" indent="0">
              <a:buNone/>
            </a:pPr>
            <a:r>
              <a:rPr lang="en-US" sz="1800" dirty="0"/>
              <a:t>     • Average Order Value (AOV)</a:t>
            </a:r>
          </a:p>
          <a:p>
            <a:pPr marL="0" indent="0">
              <a:buNone/>
            </a:pPr>
            <a:r>
              <a:rPr lang="en-US" sz="1800" dirty="0"/>
              <a:t>     • Delivery Percentage</a:t>
            </a:r>
          </a:p>
          <a:p>
            <a:pPr marL="0" indent="0">
              <a:buNone/>
            </a:pPr>
            <a:r>
              <a:rPr lang="en-US" sz="1800" dirty="0"/>
              <a:t>4. Dashboard Development</a:t>
            </a:r>
          </a:p>
          <a:p>
            <a:pPr marL="0" indent="0">
              <a:buNone/>
            </a:pPr>
            <a:r>
              <a:rPr lang="en-US" sz="1800" dirty="0"/>
              <a:t>           • Business-oriented interactive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359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5D7F-A541-7842-F087-6EDECDFF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7198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2800" b="1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F733-33B7-2289-9CE8-25D6FEE19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070" y="2383930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Main KPIs: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Total Revenue: 243.65M</a:t>
            </a:r>
          </a:p>
          <a:p>
            <a:pPr marL="0" indent="0">
              <a:buNone/>
            </a:pPr>
            <a:r>
              <a:rPr lang="en-US" sz="1800" dirty="0"/>
              <a:t>• Total Orders: 99K</a:t>
            </a:r>
          </a:p>
          <a:p>
            <a:pPr marL="0" indent="0">
              <a:buNone/>
            </a:pPr>
            <a:r>
              <a:rPr lang="en-US" sz="1800" dirty="0"/>
              <a:t>• Delivery Success Rate: 97.82%</a:t>
            </a:r>
          </a:p>
          <a:p>
            <a:pPr marL="0" indent="0">
              <a:buNone/>
            </a:pPr>
            <a:r>
              <a:rPr lang="en-US" sz="1800" dirty="0"/>
              <a:t>• Average Order Value (AOV): 2.47K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dashboard provides a complete overview of sales performance, customer delivery, product categories, and regional performance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AEB2C-5096-F799-0B27-ADEB43105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427" y="202018"/>
            <a:ext cx="7396716" cy="47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3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9CD0-938C-03A9-6B34-DD4ACC5D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/>
              <a:t>Revenue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521D-66FB-F034-C241-A6D53BFF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026" y="2249904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Monthly Revenue Trend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Key Findings: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Revenue increased steadily during the first half of the year.</a:t>
            </a:r>
          </a:p>
          <a:p>
            <a:pPr marL="0" indent="0">
              <a:buNone/>
            </a:pPr>
            <a:r>
              <a:rPr lang="en-US" sz="2000" dirty="0"/>
              <a:t>• Peak revenue was reached around Month 5.</a:t>
            </a:r>
          </a:p>
          <a:p>
            <a:pPr marL="0" indent="0">
              <a:buNone/>
            </a:pPr>
            <a:r>
              <a:rPr lang="en-US" sz="2000" dirty="0"/>
              <a:t>• Revenue significantly decreased during later months.</a:t>
            </a:r>
          </a:p>
          <a:p>
            <a:pPr marL="0" indent="0">
              <a:buNone/>
            </a:pPr>
            <a:r>
              <a:rPr lang="en-US" sz="2000" dirty="0"/>
              <a:t>• A temporary recovery occurred before another decline.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Insight:</a:t>
            </a:r>
          </a:p>
          <a:p>
            <a:pPr marL="0" indent="0">
              <a:buNone/>
            </a:pPr>
            <a:r>
              <a:rPr lang="en-US" sz="2000" dirty="0"/>
              <a:t>The business demonstrates strong seasonal sales behavior.</a:t>
            </a:r>
          </a:p>
        </p:txBody>
      </p:sp>
    </p:spTree>
    <p:extLst>
      <p:ext uri="{BB962C8B-B14F-4D97-AF65-F5344CB8AC3E}">
        <p14:creationId xmlns:p14="http://schemas.microsoft.com/office/powerpoint/2010/main" val="326309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0581-F537-B98A-15F3-B6BD9907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64431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/>
              <a:t>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7272-0622-D23D-EA23-FF67C84A0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531" y="2185735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Top Performing Categories:</a:t>
            </a:r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cama_mesa_banho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beleza_saude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informatica_acessorios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moveis_decoracao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Performing Categories:</a:t>
            </a:r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brinquedos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• </a:t>
            </a:r>
            <a:r>
              <a:rPr lang="en-US" sz="2000" dirty="0" err="1"/>
              <a:t>bebes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Insight:</a:t>
            </a:r>
          </a:p>
          <a:p>
            <a:pPr marL="0" indent="0">
              <a:buNone/>
            </a:pPr>
            <a:r>
              <a:rPr lang="en-US" sz="2000" dirty="0"/>
              <a:t>The business performs strongly in home, furniture, and health-related categories.</a:t>
            </a:r>
          </a:p>
        </p:txBody>
      </p:sp>
    </p:spTree>
    <p:extLst>
      <p:ext uri="{BB962C8B-B14F-4D97-AF65-F5344CB8AC3E}">
        <p14:creationId xmlns:p14="http://schemas.microsoft.com/office/powerpoint/2010/main" val="155969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E6C3-AE16-56B4-B67A-577F30D5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/>
              <a:t>Regional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6F39-4372-E018-C8EB-3CF612546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984" y="2330115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Top Revenue States:</a:t>
            </a:r>
          </a:p>
          <a:p>
            <a:pPr marL="0" indent="0">
              <a:buNone/>
            </a:pPr>
            <a:r>
              <a:rPr lang="en-US" sz="2000" dirty="0"/>
              <a:t>   • SP generated the highest revenue.</a:t>
            </a:r>
          </a:p>
          <a:p>
            <a:pPr marL="0" indent="0">
              <a:buNone/>
            </a:pPr>
            <a:r>
              <a:rPr lang="en-US" sz="2000" dirty="0"/>
              <a:t>   • RJ and MG followed as strong-performing regions.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Performing States:</a:t>
            </a:r>
          </a:p>
          <a:p>
            <a:pPr marL="0" indent="0">
              <a:buNone/>
            </a:pPr>
            <a:r>
              <a:rPr lang="en-US" sz="2000" dirty="0"/>
              <a:t>   • ES</a:t>
            </a:r>
          </a:p>
          <a:p>
            <a:pPr marL="0" indent="0">
              <a:buNone/>
            </a:pPr>
            <a:r>
              <a:rPr lang="en-US" sz="2000" dirty="0"/>
              <a:t>   • DF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Insight:</a:t>
            </a:r>
          </a:p>
          <a:p>
            <a:pPr marL="0" indent="0">
              <a:buNone/>
            </a:pPr>
            <a:r>
              <a:rPr lang="en-US" sz="2000" dirty="0"/>
              <a:t>Revenue is concentrated in specific geographic regions.</a:t>
            </a:r>
          </a:p>
        </p:txBody>
      </p:sp>
    </p:spTree>
    <p:extLst>
      <p:ext uri="{BB962C8B-B14F-4D97-AF65-F5344CB8AC3E}">
        <p14:creationId xmlns:p14="http://schemas.microsoft.com/office/powerpoint/2010/main" val="312817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4CA1-AAD0-E001-9CBC-DC3E72C9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372979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/>
              <a:t>Delivery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DA2A-8EFF-126F-DD46-5E83599F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363" y="2217820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Delivery Success Rate:</a:t>
            </a:r>
          </a:p>
          <a:p>
            <a:pPr marL="0" indent="0">
              <a:buNone/>
            </a:pPr>
            <a:r>
              <a:rPr lang="en-US" dirty="0"/>
              <a:t>97.82%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Observation:</a:t>
            </a:r>
          </a:p>
          <a:p>
            <a:pPr marL="0" indent="0">
              <a:buNone/>
            </a:pPr>
            <a:r>
              <a:rPr lang="en-US" dirty="0"/>
              <a:t>The delivery rate is extremely high, indicating strong operational efficiency and customer fulfillment reliability.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Business Impact:</a:t>
            </a:r>
          </a:p>
          <a:p>
            <a:pPr marL="0" indent="0">
              <a:buNone/>
            </a:pPr>
            <a:r>
              <a:rPr lang="en-US" dirty="0"/>
              <a:t>High delivery success contributes positively to customer satisfaction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175489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96E9-A04F-689D-3E4E-A3DC7B87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-389022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5ADC6-4BE4-6C5C-712C-3D3C9D29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068" y="2298031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1. Invest More in Top Categories</a:t>
            </a:r>
          </a:p>
          <a:p>
            <a:pPr marL="0" indent="0">
              <a:buNone/>
            </a:pPr>
            <a:r>
              <a:rPr lang="en-US" sz="2000" dirty="0"/>
              <a:t>Focus on high-performing categories to maximize profit.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2. Improve Underperforming Regions</a:t>
            </a:r>
          </a:p>
          <a:p>
            <a:pPr marL="0" indent="0">
              <a:buNone/>
            </a:pPr>
            <a:r>
              <a:rPr lang="en-US" sz="2000" dirty="0"/>
              <a:t>Increase marketing and promotions in weaker states.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3. Seasonal Planning</a:t>
            </a:r>
          </a:p>
          <a:p>
            <a:pPr marL="0" indent="0">
              <a:buNone/>
            </a:pPr>
            <a:r>
              <a:rPr lang="en-US" sz="2000" dirty="0"/>
              <a:t>Prepare marketing campaigns around high-sales periods.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Maintain Delivery Efficiency</a:t>
            </a:r>
          </a:p>
          <a:p>
            <a:pPr marL="0" indent="0">
              <a:buNone/>
            </a:pPr>
            <a:r>
              <a:rPr lang="en-US" sz="2000" dirty="0"/>
              <a:t>Continue optimizing logistics to sustain customer trust.</a:t>
            </a:r>
          </a:p>
        </p:txBody>
      </p:sp>
    </p:spTree>
    <p:extLst>
      <p:ext uri="{BB962C8B-B14F-4D97-AF65-F5344CB8AC3E}">
        <p14:creationId xmlns:p14="http://schemas.microsoft.com/office/powerpoint/2010/main" val="28032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A5B7-FA72-FF64-B49A-1BD165C3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-292769"/>
            <a:ext cx="10018713" cy="1752599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BFC0-85BB-99B9-B3A6-6296647A3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9321" y="2265947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Power BI dashboard successfully transformed business data into meaningful insights.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analysis identified:</a:t>
            </a:r>
          </a:p>
          <a:p>
            <a:pPr marL="0" indent="0">
              <a:buNone/>
            </a:pPr>
            <a:r>
              <a:rPr lang="en-US" dirty="0"/>
              <a:t>• Revenue trends</a:t>
            </a:r>
          </a:p>
          <a:p>
            <a:pPr marL="0" indent="0">
              <a:buNone/>
            </a:pPr>
            <a:r>
              <a:rPr lang="en-US" dirty="0"/>
              <a:t>• Strong product categories</a:t>
            </a:r>
          </a:p>
          <a:p>
            <a:pPr marL="0" indent="0">
              <a:buNone/>
            </a:pPr>
            <a:r>
              <a:rPr lang="en-US" dirty="0"/>
              <a:t>• Regional performance differences</a:t>
            </a:r>
          </a:p>
          <a:p>
            <a:pPr marL="0" indent="0">
              <a:buNone/>
            </a:pPr>
            <a:r>
              <a:rPr lang="en-US" dirty="0"/>
              <a:t>• High delivery efficiency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findings support better strategic and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95988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</TotalTime>
  <Words>487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Olist Business Insights &amp; Executive Presentation  Power BI Dashboard Development  </vt:lpstr>
      <vt:lpstr>Business Problem</vt:lpstr>
      <vt:lpstr>Data approach</vt:lpstr>
      <vt:lpstr>Dashboard Overview</vt:lpstr>
      <vt:lpstr>Revenue Trend Analysis</vt:lpstr>
      <vt:lpstr>Product Performance</vt:lpstr>
      <vt:lpstr>Regional Performance</vt:lpstr>
      <vt:lpstr>Delivery Performance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Jamal Al Hajj</dc:creator>
  <cp:lastModifiedBy>Jamal Al Hajj</cp:lastModifiedBy>
  <cp:revision>1</cp:revision>
  <dcterms:created xsi:type="dcterms:W3CDTF">2026-05-27T15:14:34Z</dcterms:created>
  <dcterms:modified xsi:type="dcterms:W3CDTF">2026-05-27T15:40:27Z</dcterms:modified>
</cp:coreProperties>
</file>